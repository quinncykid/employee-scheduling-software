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0" r:id="rId5"/>
    <p:sldId id="261" r:id="rId6"/>
    <p:sldId id="263" r:id="rId7"/>
    <p:sldId id="264" r:id="rId8"/>
    <p:sldId id="265" r:id="rId9"/>
    <p:sldId id="266" r:id="rId10"/>
    <p:sldId id="262" r:id="rId11"/>
    <p:sldId id="269" r:id="rId12"/>
    <p:sldId id="268" r:id="rId13"/>
    <p:sldId id="272" r:id="rId14"/>
    <p:sldId id="270" r:id="rId15"/>
    <p:sldId id="271" r:id="rId16"/>
    <p:sldId id="273" r:id="rId17"/>
    <p:sldId id="274" r:id="rId18"/>
    <p:sldId id="26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8" autoAdjust="0"/>
    <p:restoredTop sz="94660" autoAdjust="0"/>
  </p:normalViewPr>
  <p:slideViewPr>
    <p:cSldViewPr snapToGrid="0">
      <p:cViewPr>
        <p:scale>
          <a:sx n="100" d="100"/>
          <a:sy n="100" d="100"/>
        </p:scale>
        <p:origin x="72"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DD3869-C90A-4DF6-B6B1-9F2DC978B7C1}" type="datetimeFigureOut">
              <a:rPr lang="en-US" smtClean="0"/>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570F54-0F2E-4BCE-B16A-9E4C700835A2}" type="slidenum">
              <a:rPr lang="en-US" smtClean="0"/>
              <a:t>‹#›</a:t>
            </a:fld>
            <a:endParaRPr lang="en-US"/>
          </a:p>
        </p:txBody>
      </p:sp>
    </p:spTree>
    <p:extLst>
      <p:ext uri="{BB962C8B-B14F-4D97-AF65-F5344CB8AC3E}">
        <p14:creationId xmlns:p14="http://schemas.microsoft.com/office/powerpoint/2010/main" val="980524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DD3869-C90A-4DF6-B6B1-9F2DC978B7C1}" type="datetimeFigureOut">
              <a:rPr lang="en-US" smtClean="0"/>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570F54-0F2E-4BCE-B16A-9E4C700835A2}" type="slidenum">
              <a:rPr lang="en-US" smtClean="0"/>
              <a:t>‹#›</a:t>
            </a:fld>
            <a:endParaRPr lang="en-US"/>
          </a:p>
        </p:txBody>
      </p:sp>
    </p:spTree>
    <p:extLst>
      <p:ext uri="{BB962C8B-B14F-4D97-AF65-F5344CB8AC3E}">
        <p14:creationId xmlns:p14="http://schemas.microsoft.com/office/powerpoint/2010/main" val="3591426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DD3869-C90A-4DF6-B6B1-9F2DC978B7C1}" type="datetimeFigureOut">
              <a:rPr lang="en-US" smtClean="0"/>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570F54-0F2E-4BCE-B16A-9E4C700835A2}" type="slidenum">
              <a:rPr lang="en-US" smtClean="0"/>
              <a:t>‹#›</a:t>
            </a:fld>
            <a:endParaRPr lang="en-US"/>
          </a:p>
        </p:txBody>
      </p:sp>
    </p:spTree>
    <p:extLst>
      <p:ext uri="{BB962C8B-B14F-4D97-AF65-F5344CB8AC3E}">
        <p14:creationId xmlns:p14="http://schemas.microsoft.com/office/powerpoint/2010/main" val="1903847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DD3869-C90A-4DF6-B6B1-9F2DC978B7C1}" type="datetimeFigureOut">
              <a:rPr lang="en-US" smtClean="0"/>
              <a:t>4/19/2023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570F54-0F2E-4BCE-B16A-9E4C700835A2}" type="slidenum">
              <a:rPr lang="en-US" smtClean="0"/>
              <a:t>‹#›</a:t>
            </a:fld>
            <a:endParaRPr lang="en-US"/>
          </a:p>
        </p:txBody>
      </p:sp>
    </p:spTree>
    <p:extLst>
      <p:ext uri="{BB962C8B-B14F-4D97-AF65-F5344CB8AC3E}">
        <p14:creationId xmlns:p14="http://schemas.microsoft.com/office/powerpoint/2010/main" val="683646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DD3869-C90A-4DF6-B6B1-9F2DC978B7C1}" type="datetimeFigureOut">
              <a:rPr lang="en-US" smtClean="0"/>
              <a:t>4/19/2023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570F54-0F2E-4BCE-B16A-9E4C700835A2}" type="slidenum">
              <a:rPr lang="en-US" smtClean="0"/>
              <a:t>‹#›</a:t>
            </a:fld>
            <a:endParaRPr lang="en-US"/>
          </a:p>
        </p:txBody>
      </p:sp>
    </p:spTree>
    <p:extLst>
      <p:ext uri="{BB962C8B-B14F-4D97-AF65-F5344CB8AC3E}">
        <p14:creationId xmlns:p14="http://schemas.microsoft.com/office/powerpoint/2010/main" val="2445057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DD3869-C90A-4DF6-B6B1-9F2DC978B7C1}" type="datetimeFigureOut">
              <a:rPr lang="en-US" smtClean="0"/>
              <a:t>4/19/2023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570F54-0F2E-4BCE-B16A-9E4C700835A2}" type="slidenum">
              <a:rPr lang="en-US" smtClean="0"/>
              <a:t>‹#›</a:t>
            </a:fld>
            <a:endParaRPr lang="en-US"/>
          </a:p>
        </p:txBody>
      </p:sp>
    </p:spTree>
    <p:extLst>
      <p:ext uri="{BB962C8B-B14F-4D97-AF65-F5344CB8AC3E}">
        <p14:creationId xmlns:p14="http://schemas.microsoft.com/office/powerpoint/2010/main" val="2322457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DD3869-C90A-4DF6-B6B1-9F2DC978B7C1}" type="datetimeFigureOut">
              <a:rPr lang="en-US" smtClean="0"/>
              <a:t>4/19/2023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570F54-0F2E-4BCE-B16A-9E4C700835A2}" type="slidenum">
              <a:rPr lang="en-US" smtClean="0"/>
              <a:t>‹#›</a:t>
            </a:fld>
            <a:endParaRPr lang="en-US"/>
          </a:p>
        </p:txBody>
      </p:sp>
    </p:spTree>
    <p:extLst>
      <p:ext uri="{BB962C8B-B14F-4D97-AF65-F5344CB8AC3E}">
        <p14:creationId xmlns:p14="http://schemas.microsoft.com/office/powerpoint/2010/main" val="2229831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DD3869-C90A-4DF6-B6B1-9F2DC978B7C1}" type="datetimeFigureOut">
              <a:rPr lang="en-US" smtClean="0"/>
              <a:t>4/19/2023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570F54-0F2E-4BCE-B16A-9E4C700835A2}" type="slidenum">
              <a:rPr lang="en-US" smtClean="0"/>
              <a:t>‹#›</a:t>
            </a:fld>
            <a:endParaRPr lang="en-US"/>
          </a:p>
        </p:txBody>
      </p:sp>
    </p:spTree>
    <p:extLst>
      <p:ext uri="{BB962C8B-B14F-4D97-AF65-F5344CB8AC3E}">
        <p14:creationId xmlns:p14="http://schemas.microsoft.com/office/powerpoint/2010/main" val="3978805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DD3869-C90A-4DF6-B6B1-9F2DC978B7C1}" type="datetimeFigureOut">
              <a:rPr lang="en-US" smtClean="0"/>
              <a:t>4/19/2023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570F54-0F2E-4BCE-B16A-9E4C700835A2}" type="slidenum">
              <a:rPr lang="en-US" smtClean="0"/>
              <a:t>‹#›</a:t>
            </a:fld>
            <a:endParaRPr lang="en-US"/>
          </a:p>
        </p:txBody>
      </p:sp>
    </p:spTree>
    <p:extLst>
      <p:ext uri="{BB962C8B-B14F-4D97-AF65-F5344CB8AC3E}">
        <p14:creationId xmlns:p14="http://schemas.microsoft.com/office/powerpoint/2010/main" val="2380091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DD3869-C90A-4DF6-B6B1-9F2DC978B7C1}" type="datetimeFigureOut">
              <a:rPr lang="en-US" smtClean="0"/>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570F54-0F2E-4BCE-B16A-9E4C700835A2}" type="slidenum">
              <a:rPr lang="en-US" smtClean="0"/>
              <a:t>‹#›</a:t>
            </a:fld>
            <a:endParaRPr lang="en-US"/>
          </a:p>
        </p:txBody>
      </p:sp>
    </p:spTree>
    <p:extLst>
      <p:ext uri="{BB962C8B-B14F-4D97-AF65-F5344CB8AC3E}">
        <p14:creationId xmlns:p14="http://schemas.microsoft.com/office/powerpoint/2010/main" val="1795645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DD3869-C90A-4DF6-B6B1-9F2DC978B7C1}" type="datetimeFigureOut">
              <a:rPr lang="en-US" smtClean="0"/>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570F54-0F2E-4BCE-B16A-9E4C700835A2}" type="slidenum">
              <a:rPr lang="en-US" smtClean="0"/>
              <a:t>‹#›</a:t>
            </a:fld>
            <a:endParaRPr lang="en-US"/>
          </a:p>
        </p:txBody>
      </p:sp>
    </p:spTree>
    <p:extLst>
      <p:ext uri="{BB962C8B-B14F-4D97-AF65-F5344CB8AC3E}">
        <p14:creationId xmlns:p14="http://schemas.microsoft.com/office/powerpoint/2010/main" val="3561949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DD3869-C90A-4DF6-B6B1-9F2DC978B7C1}" type="datetimeFigureOut">
              <a:rPr lang="en-US" smtClean="0"/>
              <a:t>4/19/2023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570F54-0F2E-4BCE-B16A-9E4C700835A2}" type="slidenum">
              <a:rPr lang="en-US" smtClean="0"/>
              <a:t>‹#›</a:t>
            </a:fld>
            <a:endParaRPr lang="en-US"/>
          </a:p>
        </p:txBody>
      </p:sp>
    </p:spTree>
    <p:extLst>
      <p:ext uri="{BB962C8B-B14F-4D97-AF65-F5344CB8AC3E}">
        <p14:creationId xmlns:p14="http://schemas.microsoft.com/office/powerpoint/2010/main" val="5833265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switch-statement-in-cpp/" TargetMode="External"/><Relationship Id="rId2" Type="http://schemas.openxmlformats.org/officeDocument/2006/relationships/hyperlink" Target="https://www.geeksforgeeks.org/program-to-check-the-validity-of-a-password/" TargetMode="External"/><Relationship Id="rId1" Type="http://schemas.openxmlformats.org/officeDocument/2006/relationships/slideLayout" Target="../slideLayouts/slideLayout2.xml"/><Relationship Id="rId6" Type="http://schemas.openxmlformats.org/officeDocument/2006/relationships/hyperlink" Target="https://www.w3schools.com/cpp/cpp_structs.asp" TargetMode="External"/><Relationship Id="rId5" Type="http://schemas.openxmlformats.org/officeDocument/2006/relationships/hyperlink" Target="https://cplusplus.com/forum/beginner/21033/" TargetMode="External"/><Relationship Id="rId4" Type="http://schemas.openxmlformats.org/officeDocument/2006/relationships/hyperlink" Target="https://linuxhint.com/cin-ignore-c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58048B4-3F65-4EB9-ABA8-099353BE8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AE2FDE4-8ECB-4D0B-B871-D4EE52606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2591B6F-4AB5-6663-A70D-BAAA81A50338}"/>
              </a:ext>
            </a:extLst>
          </p:cNvPr>
          <p:cNvPicPr>
            <a:picLocks noChangeAspect="1"/>
          </p:cNvPicPr>
          <p:nvPr/>
        </p:nvPicPr>
        <p:blipFill rotWithShape="1">
          <a:blip r:embed="rId2">
            <a:duotone>
              <a:prstClr val="black"/>
              <a:schemeClr val="bg1">
                <a:tint val="45000"/>
                <a:satMod val="400000"/>
              </a:schemeClr>
            </a:duotone>
            <a:alphaModFix amt="10000"/>
          </a:blip>
          <a:srcRect b="6250"/>
          <a:stretch/>
        </p:blipFill>
        <p:spPr>
          <a:xfrm>
            <a:off x="20" y="10"/>
            <a:ext cx="12191980" cy="6857990"/>
          </a:xfrm>
          <a:prstGeom prst="rect">
            <a:avLst/>
          </a:prstGeom>
        </p:spPr>
      </p:pic>
      <p:sp>
        <p:nvSpPr>
          <p:cNvPr id="2" name="Title 1">
            <a:extLst>
              <a:ext uri="{FF2B5EF4-FFF2-40B4-BE49-F238E27FC236}">
                <a16:creationId xmlns:a16="http://schemas.microsoft.com/office/drawing/2014/main" id="{DF5326EC-A0E0-AF4E-7D15-5C2264464102}"/>
              </a:ext>
            </a:extLst>
          </p:cNvPr>
          <p:cNvSpPr>
            <a:spLocks noGrp="1"/>
          </p:cNvSpPr>
          <p:nvPr>
            <p:ph type="ctrTitle"/>
          </p:nvPr>
        </p:nvSpPr>
        <p:spPr>
          <a:xfrm>
            <a:off x="732568" y="1169982"/>
            <a:ext cx="10530318" cy="2736390"/>
          </a:xfrm>
        </p:spPr>
        <p:txBody>
          <a:bodyPr anchor="b">
            <a:normAutofit/>
          </a:bodyPr>
          <a:lstStyle/>
          <a:p>
            <a:pPr algn="l"/>
            <a:r>
              <a:rPr lang="en-US" sz="8000">
                <a:ln w="22225">
                  <a:solidFill>
                    <a:schemeClr val="tx1"/>
                  </a:solidFill>
                  <a:miter lim="800000"/>
                </a:ln>
                <a:solidFill>
                  <a:schemeClr val="tx2"/>
                </a:solidFill>
              </a:rPr>
              <a:t>By Quindarisu Booker </a:t>
            </a:r>
          </a:p>
        </p:txBody>
      </p:sp>
      <p:sp>
        <p:nvSpPr>
          <p:cNvPr id="3" name="Subtitle 2">
            <a:extLst>
              <a:ext uri="{FF2B5EF4-FFF2-40B4-BE49-F238E27FC236}">
                <a16:creationId xmlns:a16="http://schemas.microsoft.com/office/drawing/2014/main" id="{FB7D02E7-4CDC-5C51-391A-BC99CDCCC9AA}"/>
              </a:ext>
            </a:extLst>
          </p:cNvPr>
          <p:cNvSpPr>
            <a:spLocks noGrp="1"/>
          </p:cNvSpPr>
          <p:nvPr>
            <p:ph type="subTitle" idx="1"/>
          </p:nvPr>
        </p:nvSpPr>
        <p:spPr>
          <a:xfrm>
            <a:off x="732567" y="4067745"/>
            <a:ext cx="10530318" cy="1949813"/>
          </a:xfrm>
        </p:spPr>
        <p:txBody>
          <a:bodyPr anchor="t">
            <a:normAutofit/>
          </a:bodyPr>
          <a:lstStyle/>
          <a:p>
            <a:pPr algn="l"/>
            <a:r>
              <a:rPr lang="en-US" sz="2200">
                <a:solidFill>
                  <a:schemeClr val="tx2"/>
                </a:solidFill>
              </a:rPr>
              <a:t>Final presentation </a:t>
            </a:r>
          </a:p>
        </p:txBody>
      </p:sp>
      <p:cxnSp>
        <p:nvCxnSpPr>
          <p:cNvPr id="14" name="Straight Connector 13">
            <a:extLst>
              <a:ext uri="{FF2B5EF4-FFF2-40B4-BE49-F238E27FC236}">
                <a16:creationId xmlns:a16="http://schemas.microsoft.com/office/drawing/2014/main" id="{3C86DB23-FEFE-4C3A-88FA-8E855AB1EE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BB22FAF-4B4F-40B1-97FF-67CD036C89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18488D89-E3BB-4E60-BF44-5F0BE92E3F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19" name="Straight Connector 18">
              <a:extLst>
                <a:ext uri="{FF2B5EF4-FFF2-40B4-BE49-F238E27FC236}">
                  <a16:creationId xmlns:a16="http://schemas.microsoft.com/office/drawing/2014/main" id="{98FA7B87-C151-46CF-9E07-DD4FD97175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99EB480-500C-4A3E-BED3-513B88DB01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73435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creenshot of a computer&#10;&#10;Description automatically generated">
            <a:extLst>
              <a:ext uri="{FF2B5EF4-FFF2-40B4-BE49-F238E27FC236}">
                <a16:creationId xmlns:a16="http://schemas.microsoft.com/office/drawing/2014/main" id="{7C9A1DA0-4D99-0DCF-5238-44BFF61E1CA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20689"/>
          <a:stretch/>
        </p:blipFill>
        <p:spPr>
          <a:xfrm>
            <a:off x="1" y="10"/>
            <a:ext cx="9669642" cy="6857990"/>
          </a:xfrm>
          <a:prstGeom prst="rect">
            <a:avLst/>
          </a:prstGeom>
        </p:spPr>
      </p:pic>
      <p:sp>
        <p:nvSpPr>
          <p:cNvPr id="18" name="Rectangle 17">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87E1B1C-7807-74C1-458E-58644CB6925D}"/>
              </a:ext>
            </a:extLst>
          </p:cNvPr>
          <p:cNvSpPr>
            <a:spLocks noGrp="1"/>
          </p:cNvSpPr>
          <p:nvPr>
            <p:ph type="title"/>
          </p:nvPr>
        </p:nvSpPr>
        <p:spPr>
          <a:xfrm>
            <a:off x="7531610" y="365125"/>
            <a:ext cx="3822189" cy="1899912"/>
          </a:xfrm>
        </p:spPr>
        <p:txBody>
          <a:bodyPr vert="horz" lIns="91440" tIns="45720" rIns="91440" bIns="45720" rtlCol="0" anchor="ctr">
            <a:normAutofit/>
          </a:bodyPr>
          <a:lstStyle/>
          <a:p>
            <a:r>
              <a:rPr lang="en-US" sz="4000" dirty="0">
                <a:latin typeface="Times New Roman" panose="02020603050405020304" pitchFamily="18" charset="0"/>
                <a:cs typeface="Times New Roman" panose="02020603050405020304" pitchFamily="18" charset="0"/>
              </a:rPr>
              <a:t>Class/ Credentials function </a:t>
            </a:r>
          </a:p>
        </p:txBody>
      </p:sp>
      <p:sp>
        <p:nvSpPr>
          <p:cNvPr id="11" name="Rectangle 7">
            <a:extLst>
              <a:ext uri="{FF2B5EF4-FFF2-40B4-BE49-F238E27FC236}">
                <a16:creationId xmlns:a16="http://schemas.microsoft.com/office/drawing/2014/main" id="{9FFF5D61-9220-D076-E8A4-FC98D93B2FB0}"/>
              </a:ext>
            </a:extLst>
          </p:cNvPr>
          <p:cNvSpPr>
            <a:spLocks noChangeArrowheads="1"/>
          </p:cNvSpPr>
          <p:nvPr/>
        </p:nvSpPr>
        <p:spPr bwMode="auto">
          <a:xfrm>
            <a:off x="7531610" y="2434201"/>
            <a:ext cx="3822189" cy="3742762"/>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defTabSz="9144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The </a:t>
            </a:r>
            <a:r>
              <a:rPr kumimoji="0" lang="en-US" altLang="en-US" sz="2000" i="0" u="none" strike="noStrike" cap="none" normalizeH="0" baseline="0" dirty="0">
                <a:ln>
                  <a:noFill/>
                </a:ln>
                <a:effectLst/>
                <a:latin typeface="Times New Roman" panose="02020603050405020304" pitchFamily="18" charset="0"/>
                <a:cs typeface="Times New Roman" panose="02020603050405020304" pitchFamily="18" charset="0"/>
              </a:rPr>
              <a:t>credentials()</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function is used to get the employee's name, identification number, and work position, and returns a string that holds the information.. </a:t>
            </a:r>
          </a:p>
        </p:txBody>
      </p:sp>
    </p:spTree>
    <p:extLst>
      <p:ext uri="{BB962C8B-B14F-4D97-AF65-F5344CB8AC3E}">
        <p14:creationId xmlns:p14="http://schemas.microsoft.com/office/powerpoint/2010/main" val="3710419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creenshot of a computer&#10;&#10;Description automatically generated">
            <a:extLst>
              <a:ext uri="{FF2B5EF4-FFF2-40B4-BE49-F238E27FC236}">
                <a16:creationId xmlns:a16="http://schemas.microsoft.com/office/drawing/2014/main" id="{7319A681-EE12-151E-A4C2-4429430696D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20689"/>
          <a:stretch/>
        </p:blipFill>
        <p:spPr>
          <a:xfrm>
            <a:off x="1" y="10"/>
            <a:ext cx="9669642" cy="6857990"/>
          </a:xfrm>
          <a:prstGeom prst="rect">
            <a:avLst/>
          </a:prstGeom>
        </p:spPr>
      </p:pic>
      <p:sp>
        <p:nvSpPr>
          <p:cNvPr id="16" name="Rectangle 15">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0DC3DFC-8693-46BE-BAB6-E404D5D6D4F1}"/>
              </a:ext>
            </a:extLst>
          </p:cNvPr>
          <p:cNvSpPr>
            <a:spLocks noGrp="1"/>
          </p:cNvSpPr>
          <p:nvPr>
            <p:ph type="title"/>
          </p:nvPr>
        </p:nvSpPr>
        <p:spPr>
          <a:xfrm>
            <a:off x="7531610" y="365125"/>
            <a:ext cx="3822189" cy="1899912"/>
          </a:xfrm>
        </p:spPr>
        <p:txBody>
          <a:bodyPr vert="horz" lIns="91440" tIns="45720" rIns="91440" bIns="45720" rtlCol="0" anchor="ctr">
            <a:normAutofit/>
          </a:bodyPr>
          <a:lstStyle/>
          <a:p>
            <a:r>
              <a:rPr lang="en-US" sz="4000" dirty="0">
                <a:latin typeface="Times New Roman" panose="02020603050405020304" pitchFamily="18" charset="0"/>
                <a:cs typeface="Times New Roman" panose="02020603050405020304" pitchFamily="18" charset="0"/>
              </a:rPr>
              <a:t>Pay function </a:t>
            </a:r>
          </a:p>
        </p:txBody>
      </p:sp>
      <p:sp>
        <p:nvSpPr>
          <p:cNvPr id="4" name="TextBox 3">
            <a:extLst>
              <a:ext uri="{FF2B5EF4-FFF2-40B4-BE49-F238E27FC236}">
                <a16:creationId xmlns:a16="http://schemas.microsoft.com/office/drawing/2014/main" id="{EF87430E-EFB0-5EFB-7D09-F9E7238F1FB4}"/>
              </a:ext>
            </a:extLst>
          </p:cNvPr>
          <p:cNvSpPr txBox="1"/>
          <p:nvPr/>
        </p:nvSpPr>
        <p:spPr>
          <a:xfrm>
            <a:off x="7531610" y="2434201"/>
            <a:ext cx="3822189" cy="3742762"/>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The pay  function calculates the workers pay for the week based on their position and hours worked</a:t>
            </a:r>
          </a:p>
          <a:p>
            <a:pPr defTabSz="914400">
              <a:lnSpc>
                <a:spcPct val="90000"/>
              </a:lnSpc>
              <a:spcAft>
                <a:spcPts val="600"/>
              </a:spcAft>
            </a:pPr>
            <a:r>
              <a:rPr lang="en-US" sz="2000" dirty="0">
                <a:latin typeface="Times New Roman" panose="02020603050405020304" pitchFamily="18" charset="0"/>
                <a:cs typeface="Times New Roman" panose="02020603050405020304" pitchFamily="18" charset="0"/>
              </a:rPr>
              <a:t>They are given the choice to choose if they work a manger rial position of a crew member position their asked for how many hours they have worked for the week</a:t>
            </a:r>
          </a:p>
        </p:txBody>
      </p:sp>
    </p:spTree>
    <p:extLst>
      <p:ext uri="{BB962C8B-B14F-4D97-AF65-F5344CB8AC3E}">
        <p14:creationId xmlns:p14="http://schemas.microsoft.com/office/powerpoint/2010/main" val="813906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creenshot of a computer&#10;&#10;Description automatically generated with medium confidence">
            <a:extLst>
              <a:ext uri="{FF2B5EF4-FFF2-40B4-BE49-F238E27FC236}">
                <a16:creationId xmlns:a16="http://schemas.microsoft.com/office/drawing/2014/main" id="{4A3D7948-C9A1-6E9D-2F01-1E61D4F6ADE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20689"/>
          <a:stretch/>
        </p:blipFill>
        <p:spPr>
          <a:xfrm>
            <a:off x="1" y="10"/>
            <a:ext cx="9669642" cy="6857990"/>
          </a:xfrm>
          <a:prstGeom prst="rect">
            <a:avLst/>
          </a:prstGeom>
        </p:spPr>
      </p:pic>
      <p:sp>
        <p:nvSpPr>
          <p:cNvPr id="21" name="Rectangle 2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47D865F-042E-FF49-6B6A-89E214F9A22D}"/>
              </a:ext>
            </a:extLst>
          </p:cNvPr>
          <p:cNvSpPr>
            <a:spLocks noGrp="1"/>
          </p:cNvSpPr>
          <p:nvPr>
            <p:ph type="title"/>
          </p:nvPr>
        </p:nvSpPr>
        <p:spPr>
          <a:xfrm>
            <a:off x="7531610" y="365125"/>
            <a:ext cx="3822189" cy="1899912"/>
          </a:xfrm>
        </p:spPr>
        <p:txBody>
          <a:bodyPr vert="horz" lIns="91440" tIns="45720" rIns="91440" bIns="45720" rtlCol="0" anchor="ctr">
            <a:normAutofit/>
          </a:bodyPr>
          <a:lstStyle/>
          <a:p>
            <a:r>
              <a:rPr lang="en-US" sz="4000" dirty="0">
                <a:latin typeface="Times New Roman" panose="02020603050405020304" pitchFamily="18" charset="0"/>
                <a:cs typeface="Times New Roman" panose="02020603050405020304" pitchFamily="18" charset="0"/>
              </a:rPr>
              <a:t>Shift exchange function</a:t>
            </a:r>
          </a:p>
        </p:txBody>
      </p:sp>
      <p:sp>
        <p:nvSpPr>
          <p:cNvPr id="4" name="TextBox 3">
            <a:extLst>
              <a:ext uri="{FF2B5EF4-FFF2-40B4-BE49-F238E27FC236}">
                <a16:creationId xmlns:a16="http://schemas.microsoft.com/office/drawing/2014/main" id="{AD9ACD02-F871-EC8C-F4D4-D0102F83EF18}"/>
              </a:ext>
            </a:extLst>
          </p:cNvPr>
          <p:cNvSpPr txBox="1"/>
          <p:nvPr/>
        </p:nvSpPr>
        <p:spPr>
          <a:xfrm>
            <a:off x="7531610" y="2434201"/>
            <a:ext cx="3822189" cy="3742762"/>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The function </a:t>
            </a:r>
            <a:r>
              <a:rPr lang="en-US" sz="2000" dirty="0">
                <a:latin typeface="Times New Roman" panose="02020603050405020304" pitchFamily="18" charset="0"/>
                <a:cs typeface="Times New Roman" panose="02020603050405020304" pitchFamily="18" charset="0"/>
              </a:rPr>
              <a:t>ask </a:t>
            </a:r>
            <a:r>
              <a:rPr lang="en-US" sz="2000" b="0" i="0" dirty="0">
                <a:effectLst/>
                <a:latin typeface="Times New Roman" panose="02020603050405020304" pitchFamily="18" charset="0"/>
                <a:cs typeface="Times New Roman" panose="02020603050405020304" pitchFamily="18" charset="0"/>
              </a:rPr>
              <a:t>the user to input the day, start time, and end time of their shift. It then prompts the user to choose whether to drop the shift or post it to be picked up by other employees. Depending on the user's choice, the function will output a message indicating whether the shift has been dropped or posted and display </a:t>
            </a:r>
            <a:r>
              <a:rPr lang="en-US" sz="2000" dirty="0">
                <a:latin typeface="Times New Roman" panose="02020603050405020304" pitchFamily="18" charset="0"/>
                <a:cs typeface="Times New Roman" panose="02020603050405020304" pitchFamily="18" charset="0"/>
              </a:rPr>
              <a:t>the </a:t>
            </a:r>
            <a:r>
              <a:rPr lang="en-US" sz="2000" b="0" i="0" dirty="0">
                <a:effectLst/>
                <a:latin typeface="Times New Roman" panose="02020603050405020304" pitchFamily="18" charset="0"/>
                <a:cs typeface="Times New Roman" panose="02020603050405020304" pitchFamily="18" charset="0"/>
              </a:rPr>
              <a:t>information about the shift.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9605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Description automatically generated">
            <a:extLst>
              <a:ext uri="{FF2B5EF4-FFF2-40B4-BE49-F238E27FC236}">
                <a16:creationId xmlns:a16="http://schemas.microsoft.com/office/drawing/2014/main" id="{250C46E0-4CE4-D15E-E72D-715E06947E5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20689"/>
          <a:stretch/>
        </p:blipFill>
        <p:spPr>
          <a:xfrm>
            <a:off x="1" y="10"/>
            <a:ext cx="966964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428DFCE-D2B9-981E-581F-69BB40913081}"/>
              </a:ext>
            </a:extLst>
          </p:cNvPr>
          <p:cNvSpPr>
            <a:spLocks noGrp="1"/>
          </p:cNvSpPr>
          <p:nvPr>
            <p:ph type="title"/>
          </p:nvPr>
        </p:nvSpPr>
        <p:spPr>
          <a:xfrm>
            <a:off x="7531610" y="365125"/>
            <a:ext cx="3822189" cy="1899912"/>
          </a:xfrm>
        </p:spPr>
        <p:txBody>
          <a:bodyPr vert="horz" lIns="91440" tIns="45720" rIns="91440" bIns="45720" rtlCol="0" anchor="ctr">
            <a:normAutofit/>
          </a:bodyPr>
          <a:lstStyle/>
          <a:p>
            <a:r>
              <a:rPr lang="en-US" sz="4000" dirty="0">
                <a:latin typeface="Times New Roman" panose="02020603050405020304" pitchFamily="18" charset="0"/>
                <a:cs typeface="Times New Roman" panose="02020603050405020304" pitchFamily="18" charset="0"/>
              </a:rPr>
              <a:t>Request Off/ Passwords function</a:t>
            </a:r>
          </a:p>
        </p:txBody>
      </p:sp>
      <p:sp>
        <p:nvSpPr>
          <p:cNvPr id="4" name="TextBox 3">
            <a:extLst>
              <a:ext uri="{FF2B5EF4-FFF2-40B4-BE49-F238E27FC236}">
                <a16:creationId xmlns:a16="http://schemas.microsoft.com/office/drawing/2014/main" id="{6E755AD0-AD5A-C474-9B4C-C6A03AAF8553}"/>
              </a:ext>
            </a:extLst>
          </p:cNvPr>
          <p:cNvSpPr txBox="1"/>
          <p:nvPr/>
        </p:nvSpPr>
        <p:spPr>
          <a:xfrm>
            <a:off x="7531610" y="2434201"/>
            <a:ext cx="3822189" cy="3742762"/>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This function ask the user to enter the number of day they have requested off and if this amount passes the limit of 2 days the request will automatically  be denied...</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4288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 screen&#10;&#10;Description automatically generated">
            <a:extLst>
              <a:ext uri="{FF2B5EF4-FFF2-40B4-BE49-F238E27FC236}">
                <a16:creationId xmlns:a16="http://schemas.microsoft.com/office/drawing/2014/main" id="{3BB2BE0B-47EB-9E47-BF4B-59495721E9A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20689"/>
          <a:stretch/>
        </p:blipFill>
        <p:spPr>
          <a:xfrm>
            <a:off x="1" y="10"/>
            <a:ext cx="9669642" cy="6857990"/>
          </a:xfrm>
          <a:prstGeom prst="rect">
            <a:avLst/>
          </a:prstGeom>
        </p:spPr>
      </p:pic>
      <p:sp>
        <p:nvSpPr>
          <p:cNvPr id="17" name="Rectangle 1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D4ADDB-6608-D956-7312-0B679D5364A4}"/>
              </a:ext>
            </a:extLst>
          </p:cNvPr>
          <p:cNvSpPr>
            <a:spLocks noGrp="1"/>
          </p:cNvSpPr>
          <p:nvPr>
            <p:ph type="title"/>
          </p:nvPr>
        </p:nvSpPr>
        <p:spPr>
          <a:xfrm>
            <a:off x="7531610" y="365125"/>
            <a:ext cx="3822189" cy="1899912"/>
          </a:xfrm>
        </p:spPr>
        <p:txBody>
          <a:bodyPr vert="horz" lIns="91440" tIns="45720" rIns="91440" bIns="45720" rtlCol="0" anchor="ctr">
            <a:normAutofit/>
          </a:bodyPr>
          <a:lstStyle/>
          <a:p>
            <a:r>
              <a:rPr lang="en-US" sz="4000" dirty="0">
                <a:latin typeface="Times New Roman" panose="02020603050405020304" pitchFamily="18" charset="0"/>
                <a:cs typeface="Times New Roman" panose="02020603050405020304" pitchFamily="18" charset="0"/>
              </a:rPr>
              <a:t>Messages/ Broadcast function</a:t>
            </a:r>
          </a:p>
        </p:txBody>
      </p:sp>
      <p:sp>
        <p:nvSpPr>
          <p:cNvPr id="3" name="Rectangle 1">
            <a:extLst>
              <a:ext uri="{FF2B5EF4-FFF2-40B4-BE49-F238E27FC236}">
                <a16:creationId xmlns:a16="http://schemas.microsoft.com/office/drawing/2014/main" id="{AC2FC69D-BB09-8097-9C49-58D396993F1B}"/>
              </a:ext>
            </a:extLst>
          </p:cNvPr>
          <p:cNvSpPr>
            <a:spLocks noChangeArrowheads="1"/>
          </p:cNvSpPr>
          <p:nvPr/>
        </p:nvSpPr>
        <p:spPr bwMode="auto">
          <a:xfrm>
            <a:off x="7531610" y="2434201"/>
            <a:ext cx="3822189" cy="3742762"/>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defTabSz="91440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Message functions  ask the user </a:t>
            </a:r>
            <a:r>
              <a:rPr lang="en-US" altLang="en-US" sz="2000" dirty="0">
                <a:latin typeface="Times New Roman" panose="02020603050405020304" pitchFamily="18" charset="0"/>
                <a:cs typeface="Times New Roman" panose="02020603050405020304" pitchFamily="18" charset="0"/>
              </a:rPr>
              <a:t>witch check Password</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function to test  if  password is invalid  then prints a message and returns. Otherwise,  it checks if there are any messages in the </a:t>
            </a:r>
            <a:r>
              <a:rPr kumimoji="0" lang="en-US" altLang="en-US" sz="2000" i="0" u="none" strike="noStrike" cap="none" normalizeH="0" baseline="0" dirty="0" err="1">
                <a:ln>
                  <a:noFill/>
                </a:ln>
                <a:effectLst/>
                <a:latin typeface="Times New Roman" panose="02020603050405020304" pitchFamily="18" charset="0"/>
                <a:cs typeface="Times New Roman" panose="02020603050405020304" pitchFamily="18" charset="0"/>
              </a:rPr>
              <a:t>managerMessages</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vector. If there aren't any, it prints a message and returns. If there are messages, it loops through the vector and prints each message's content and sender. </a:t>
            </a:r>
          </a:p>
        </p:txBody>
      </p:sp>
    </p:spTree>
    <p:extLst>
      <p:ext uri="{BB962C8B-B14F-4D97-AF65-F5344CB8AC3E}">
        <p14:creationId xmlns:p14="http://schemas.microsoft.com/office/powerpoint/2010/main" val="2316915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
            <a:extLst>
              <a:ext uri="{FF2B5EF4-FFF2-40B4-BE49-F238E27FC236}">
                <a16:creationId xmlns:a16="http://schemas.microsoft.com/office/drawing/2014/main" id="{00AF6249-C6BD-EF32-1F28-6FE5FBC91C83}"/>
              </a:ext>
            </a:extLst>
          </p:cNvPr>
          <p:cNvPicPr>
            <a:picLocks noChangeAspect="1"/>
          </p:cNvPicPr>
          <p:nvPr/>
        </p:nvPicPr>
        <p:blipFill rotWithShape="1">
          <a:blip r:embed="rId2">
            <a:extLst>
              <a:ext uri="{28A0092B-C50C-407E-A947-70E740481C1C}">
                <a14:useLocalDpi xmlns:a14="http://schemas.microsoft.com/office/drawing/2010/main" val="0"/>
              </a:ext>
            </a:extLst>
          </a:blip>
          <a:srcRect r="20689"/>
          <a:stretch/>
        </p:blipFill>
        <p:spPr>
          <a:xfrm>
            <a:off x="1" y="10"/>
            <a:ext cx="9669642" cy="6857990"/>
          </a:xfrm>
          <a:prstGeom prst="rect">
            <a:avLst/>
          </a:prstGeom>
        </p:spPr>
      </p:pic>
      <p:sp>
        <p:nvSpPr>
          <p:cNvPr id="14" name="Rectangle 1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4F33209-69F5-1511-75C9-86A103907642}"/>
              </a:ext>
            </a:extLst>
          </p:cNvPr>
          <p:cNvSpPr>
            <a:spLocks noGrp="1"/>
          </p:cNvSpPr>
          <p:nvPr>
            <p:ph type="title"/>
          </p:nvPr>
        </p:nvSpPr>
        <p:spPr>
          <a:xfrm>
            <a:off x="7531610" y="365125"/>
            <a:ext cx="3822189" cy="1899912"/>
          </a:xfrm>
        </p:spPr>
        <p:txBody>
          <a:bodyPr>
            <a:normAutofit/>
          </a:bodyPr>
          <a:lstStyle/>
          <a:p>
            <a:r>
              <a:rPr lang="en-US" sz="4000" dirty="0">
                <a:latin typeface="Times New Roman" panose="02020603050405020304" pitchFamily="18" charset="0"/>
                <a:cs typeface="Times New Roman" panose="02020603050405020304" pitchFamily="18" charset="0"/>
              </a:rPr>
              <a:t>Main Function </a:t>
            </a:r>
          </a:p>
        </p:txBody>
      </p:sp>
    </p:spTree>
    <p:extLst>
      <p:ext uri="{BB962C8B-B14F-4D97-AF65-F5344CB8AC3E}">
        <p14:creationId xmlns:p14="http://schemas.microsoft.com/office/powerpoint/2010/main" val="3364842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a keyboard">
            <a:extLst>
              <a:ext uri="{FF2B5EF4-FFF2-40B4-BE49-F238E27FC236}">
                <a16:creationId xmlns:a16="http://schemas.microsoft.com/office/drawing/2014/main" id="{10E1C451-3E3E-A841-E0D6-AB6FBD1CB884}"/>
              </a:ext>
            </a:extLst>
          </p:cNvPr>
          <p:cNvPicPr>
            <a:picLocks noChangeAspect="1"/>
          </p:cNvPicPr>
          <p:nvPr/>
        </p:nvPicPr>
        <p:blipFill rotWithShape="1">
          <a:blip r:embed="rId2"/>
          <a:srcRect r="8705" b="1"/>
          <a:stretch/>
        </p:blipFill>
        <p:spPr>
          <a:xfrm>
            <a:off x="1" y="10"/>
            <a:ext cx="9669642" cy="6857990"/>
          </a:xfrm>
          <a:prstGeom prst="rect">
            <a:avLst/>
          </a:prstGeom>
        </p:spPr>
      </p:pic>
      <p:sp>
        <p:nvSpPr>
          <p:cNvPr id="16" name="Rectangle 15">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DE904223-2F15-F57D-16BE-85B6F24C0205}"/>
              </a:ext>
            </a:extLst>
          </p:cNvPr>
          <p:cNvSpPr txBox="1"/>
          <p:nvPr/>
        </p:nvSpPr>
        <p:spPr>
          <a:xfrm>
            <a:off x="6726293" y="1134"/>
            <a:ext cx="3864429" cy="2002971"/>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000" b="1" dirty="0">
                <a:latin typeface="Times New Roman" panose="02020603050405020304" pitchFamily="18" charset="0"/>
                <a:ea typeface="+mj-ea"/>
                <a:cs typeface="Times New Roman" panose="02020603050405020304" pitchFamily="18" charset="0"/>
              </a:rPr>
              <a:t>Details</a:t>
            </a:r>
            <a:r>
              <a:rPr lang="en-US" sz="4000" b="1" dirty="0">
                <a:latin typeface="+mj-lt"/>
                <a:ea typeface="+mj-ea"/>
                <a:cs typeface="+mj-cs"/>
              </a:rPr>
              <a:t> </a:t>
            </a:r>
          </a:p>
        </p:txBody>
      </p:sp>
      <p:sp>
        <p:nvSpPr>
          <p:cNvPr id="3" name="Content Placeholder 2">
            <a:extLst>
              <a:ext uri="{FF2B5EF4-FFF2-40B4-BE49-F238E27FC236}">
                <a16:creationId xmlns:a16="http://schemas.microsoft.com/office/drawing/2014/main" id="{AC2C6C75-EC57-99EC-1DD9-E4F45645AE04}"/>
              </a:ext>
            </a:extLst>
          </p:cNvPr>
          <p:cNvSpPr>
            <a:spLocks noGrp="1"/>
          </p:cNvSpPr>
          <p:nvPr>
            <p:ph idx="1"/>
          </p:nvPr>
        </p:nvSpPr>
        <p:spPr>
          <a:xfrm>
            <a:off x="6241143" y="1683657"/>
            <a:ext cx="5112657" cy="4493306"/>
          </a:xfrm>
        </p:spPr>
        <p:txBody>
          <a:bodyPr vert="horz" lIns="91440" tIns="45720" rIns="91440" bIns="45720" rtlCol="0">
            <a:normAutofit/>
          </a:bodyPr>
          <a:lstStyle/>
          <a:p>
            <a:endParaRPr lang="en-US" sz="1400" dirty="0"/>
          </a:p>
          <a:p>
            <a:r>
              <a:rPr lang="en-US" sz="1800" dirty="0">
                <a:latin typeface="Times New Roman" panose="02020603050405020304" pitchFamily="18" charset="0"/>
                <a:cs typeface="Times New Roman" panose="02020603050405020304" pitchFamily="18" charset="0"/>
              </a:rPr>
              <a:t>The program prompts the user to enter their provided password, then they will  be given a menu of options to choose from. To enter their credentials, calculate pay, manage shifts, request time off, send messages to management, broadcast messages (only for managers), and view messages (only for managers).</a:t>
            </a:r>
          </a:p>
          <a:p>
            <a:endParaRPr lang="en-US" sz="1800" dirty="0"/>
          </a:p>
          <a:p>
            <a:r>
              <a:rPr lang="en-US" sz="1800" dirty="0">
                <a:latin typeface="Times New Roman" panose="02020603050405020304" pitchFamily="18" charset="0"/>
                <a:cs typeface="Times New Roman" panose="02020603050405020304" pitchFamily="18" charset="0"/>
              </a:rPr>
              <a:t>We use  an object of the Cruise Ship class to  call member functions for each option . Then   I programed the using a switch statement to find which option the use selected and while loop to continue the menus until the user decided to exit the menu .</a:t>
            </a:r>
          </a:p>
        </p:txBody>
      </p:sp>
    </p:spTree>
    <p:extLst>
      <p:ext uri="{BB962C8B-B14F-4D97-AF65-F5344CB8AC3E}">
        <p14:creationId xmlns:p14="http://schemas.microsoft.com/office/powerpoint/2010/main" val="3557579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2E3644-D651-08E0-D76C-1C65EF5F6E8B}"/>
              </a:ext>
            </a:extLst>
          </p:cNvPr>
          <p:cNvSpPr>
            <a:spLocks noGrp="1"/>
          </p:cNvSpPr>
          <p:nvPr>
            <p:ph type="title"/>
          </p:nvPr>
        </p:nvSpPr>
        <p:spPr>
          <a:xfrm>
            <a:off x="838200" y="365125"/>
            <a:ext cx="10515600" cy="1060237"/>
          </a:xfrm>
        </p:spPr>
        <p:txBody>
          <a:bodyPr>
            <a:normAutofit/>
          </a:bodyPr>
          <a:lstStyle/>
          <a:p>
            <a:r>
              <a:rPr lang="en-US" sz="5400" dirty="0">
                <a:latin typeface="Times New Roman" panose="02020603050405020304" pitchFamily="18" charset="0"/>
                <a:cs typeface="Times New Roman" panose="02020603050405020304" pitchFamily="18" charset="0"/>
              </a:rPr>
              <a:t>Challenges that I faced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99A3C0A-681C-45F5-F3A4-974960343660}"/>
              </a:ext>
            </a:extLst>
          </p:cNvPr>
          <p:cNvSpPr>
            <a:spLocks noGrp="1"/>
          </p:cNvSpPr>
          <p:nvPr>
            <p:ph idx="1"/>
          </p:nvPr>
        </p:nvSpPr>
        <p:spPr>
          <a:xfrm>
            <a:off x="275771" y="1790487"/>
            <a:ext cx="11538857" cy="4702388"/>
          </a:xfrm>
        </p:spPr>
        <p:txBody>
          <a:bodyPr>
            <a:normAutofit/>
          </a:bodyPr>
          <a:lstStyle/>
          <a:p>
            <a:r>
              <a:rPr lang="en-US" sz="2400" dirty="0">
                <a:latin typeface="Times New Roman" panose="02020603050405020304" pitchFamily="18" charset="0"/>
                <a:cs typeface="Times New Roman" panose="02020603050405020304" pitchFamily="18" charset="0"/>
              </a:rPr>
              <a:t>Finding  a way continue the menu sorption until the user decide to break the cycle.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Message que system for all messages to be view by management.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Making sure that All inputs for the user could  be validated.</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Error system: making sure that the program would handle any error in a delicate way </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1078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BD3D52-20FA-CDBF-E800-237F55DCFCFB}"/>
              </a:ext>
            </a:extLst>
          </p:cNvPr>
          <p:cNvSpPr>
            <a:spLocks noGrp="1"/>
          </p:cNvSpPr>
          <p:nvPr>
            <p:ph type="title"/>
          </p:nvPr>
        </p:nvSpPr>
        <p:spPr>
          <a:xfrm>
            <a:off x="126732" y="196949"/>
            <a:ext cx="5962785" cy="1975482"/>
          </a:xfrm>
        </p:spPr>
        <p:txBody>
          <a:bodyPr>
            <a:normAutofit/>
          </a:bodyPr>
          <a:lstStyle/>
          <a:p>
            <a:r>
              <a:rPr lang="en-US" sz="3200" dirty="0"/>
              <a:t> </a:t>
            </a:r>
            <a:r>
              <a:rPr lang="en-US" sz="3200" dirty="0">
                <a:latin typeface="Times New Roman" panose="02020603050405020304" pitchFamily="18" charset="0"/>
                <a:cs typeface="Times New Roman" panose="02020603050405020304" pitchFamily="18" charset="0"/>
              </a:rPr>
              <a:t>Things I would like to Incorporate </a:t>
            </a:r>
          </a:p>
        </p:txBody>
      </p:sp>
      <p:sp>
        <p:nvSpPr>
          <p:cNvPr id="3" name="Content Placeholder 2">
            <a:extLst>
              <a:ext uri="{FF2B5EF4-FFF2-40B4-BE49-F238E27FC236}">
                <a16:creationId xmlns:a16="http://schemas.microsoft.com/office/drawing/2014/main" id="{A2A2FCD5-205B-89C6-6FD0-4B708404101A}"/>
              </a:ext>
            </a:extLst>
          </p:cNvPr>
          <p:cNvSpPr>
            <a:spLocks noGrp="1"/>
          </p:cNvSpPr>
          <p:nvPr>
            <p:ph idx="1"/>
          </p:nvPr>
        </p:nvSpPr>
        <p:spPr>
          <a:xfrm>
            <a:off x="422032" y="1702191"/>
            <a:ext cx="5035790" cy="4474772"/>
          </a:xfrm>
        </p:spPr>
        <p:txBody>
          <a:bodyPr>
            <a:normAutofit/>
          </a:bodyPr>
          <a:lstStyle/>
          <a:p>
            <a:r>
              <a:rPr lang="en-US" sz="2000" dirty="0"/>
              <a:t> </a:t>
            </a:r>
            <a:r>
              <a:rPr lang="en-US" sz="2000" dirty="0">
                <a:latin typeface="Times New Roman" panose="02020603050405020304" pitchFamily="18" charset="0"/>
                <a:cs typeface="Times New Roman" panose="02020603050405020304" pitchFamily="18" charset="0"/>
              </a:rPr>
              <a:t>Inheritance </a:t>
            </a:r>
          </a:p>
          <a:p>
            <a:pPr marL="0" indent="0">
              <a:buNone/>
            </a:pPr>
            <a:r>
              <a:rPr lang="en-US" sz="2000" dirty="0">
                <a:latin typeface="Times New Roman" panose="02020603050405020304" pitchFamily="18" charset="0"/>
                <a:cs typeface="Times New Roman" panose="02020603050405020304" pitchFamily="18" charset="0"/>
              </a:rPr>
              <a:t>For multiple classes defined specifically for management to view, all worker's credentials, schedules and messages </a:t>
            </a:r>
          </a:p>
          <a:p>
            <a:r>
              <a:rPr lang="en-US" sz="2000" dirty="0">
                <a:latin typeface="Times New Roman" panose="02020603050405020304" pitchFamily="18" charset="0"/>
                <a:cs typeface="Times New Roman" panose="02020603050405020304" pitchFamily="18" charset="0"/>
              </a:rPr>
              <a:t>Polymorphism </a:t>
            </a:r>
          </a:p>
          <a:p>
            <a:pPr marL="0" indent="0">
              <a:buNone/>
            </a:pPr>
            <a:r>
              <a:rPr lang="en-US" sz="2000" dirty="0">
                <a:latin typeface="Times New Roman" panose="02020603050405020304" pitchFamily="18" charset="0"/>
                <a:cs typeface="Times New Roman" panose="02020603050405020304" pitchFamily="18" charset="0"/>
              </a:rPr>
              <a:t>For all employees to be defined such as cooks, Deck Crew, Cruise Directors, Expedition Leaders, Hosts and Hostesses, Naturalists, Shore Excursion Managers, and Masseuses.</a:t>
            </a:r>
          </a:p>
        </p:txBody>
      </p:sp>
      <p:pic>
        <p:nvPicPr>
          <p:cNvPr id="5" name="Picture 4" descr="Network with pins">
            <a:extLst>
              <a:ext uri="{FF2B5EF4-FFF2-40B4-BE49-F238E27FC236}">
                <a16:creationId xmlns:a16="http://schemas.microsoft.com/office/drawing/2014/main" id="{B275D121-4FF9-4BA3-C135-A75F7ED91937}"/>
              </a:ext>
            </a:extLst>
          </p:cNvPr>
          <p:cNvPicPr>
            <a:picLocks noChangeAspect="1"/>
          </p:cNvPicPr>
          <p:nvPr/>
        </p:nvPicPr>
        <p:blipFill rotWithShape="1">
          <a:blip r:embed="rId2"/>
          <a:srcRect l="20418" r="21763"/>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95451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computer&#10;&#10;Description automatically generated">
            <a:extLst>
              <a:ext uri="{FF2B5EF4-FFF2-40B4-BE49-F238E27FC236}">
                <a16:creationId xmlns:a16="http://schemas.microsoft.com/office/drawing/2014/main" id="{B5351422-1DBF-92AD-1A6E-51F46985E5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7054" y="791468"/>
            <a:ext cx="9377892" cy="5275064"/>
          </a:xfrm>
        </p:spPr>
      </p:pic>
    </p:spTree>
    <p:extLst>
      <p:ext uri="{BB962C8B-B14F-4D97-AF65-F5344CB8AC3E}">
        <p14:creationId xmlns:p14="http://schemas.microsoft.com/office/powerpoint/2010/main" val="412523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computer&#10;&#10;Description automatically generated with medium confidence">
            <a:extLst>
              <a:ext uri="{FF2B5EF4-FFF2-40B4-BE49-F238E27FC236}">
                <a16:creationId xmlns:a16="http://schemas.microsoft.com/office/drawing/2014/main" id="{2D491DC5-2BC1-031F-AFAC-3B442981DD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5972" y="605234"/>
            <a:ext cx="10040056" cy="5647531"/>
          </a:xfrm>
        </p:spPr>
      </p:pic>
    </p:spTree>
    <p:extLst>
      <p:ext uri="{BB962C8B-B14F-4D97-AF65-F5344CB8AC3E}">
        <p14:creationId xmlns:p14="http://schemas.microsoft.com/office/powerpoint/2010/main" val="3599005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Description automatically generated with medium confidence">
            <a:extLst>
              <a:ext uri="{FF2B5EF4-FFF2-40B4-BE49-F238E27FC236}">
                <a16:creationId xmlns:a16="http://schemas.microsoft.com/office/drawing/2014/main" id="{17F936EA-C31F-E412-EEBA-752525D638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3667" y="547688"/>
            <a:ext cx="10244666" cy="5762624"/>
          </a:xfrm>
        </p:spPr>
      </p:pic>
    </p:spTree>
    <p:extLst>
      <p:ext uri="{BB962C8B-B14F-4D97-AF65-F5344CB8AC3E}">
        <p14:creationId xmlns:p14="http://schemas.microsoft.com/office/powerpoint/2010/main" val="3524009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screen&#10;&#10;Description automatically generated">
            <a:extLst>
              <a:ext uri="{FF2B5EF4-FFF2-40B4-BE49-F238E27FC236}">
                <a16:creationId xmlns:a16="http://schemas.microsoft.com/office/drawing/2014/main" id="{56D049CA-C93E-37FB-31B0-56D2E80355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0083" y="613172"/>
            <a:ext cx="10011833" cy="5631656"/>
          </a:xfrm>
        </p:spPr>
      </p:pic>
    </p:spTree>
    <p:extLst>
      <p:ext uri="{BB962C8B-B14F-4D97-AF65-F5344CB8AC3E}">
        <p14:creationId xmlns:p14="http://schemas.microsoft.com/office/powerpoint/2010/main" val="2909836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ext&#10;&#10;Description automatically generated">
            <a:extLst>
              <a:ext uri="{FF2B5EF4-FFF2-40B4-BE49-F238E27FC236}">
                <a16:creationId xmlns:a16="http://schemas.microsoft.com/office/drawing/2014/main" id="{D891C441-BF91-4F9B-BE14-50B2B0AD61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7533" y="566738"/>
            <a:ext cx="10176933" cy="5724524"/>
          </a:xfrm>
        </p:spPr>
      </p:pic>
    </p:spTree>
    <p:extLst>
      <p:ext uri="{BB962C8B-B14F-4D97-AF65-F5344CB8AC3E}">
        <p14:creationId xmlns:p14="http://schemas.microsoft.com/office/powerpoint/2010/main" val="3665811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Description automatically generated with medium confidence">
            <a:extLst>
              <a:ext uri="{FF2B5EF4-FFF2-40B4-BE49-F238E27FC236}">
                <a16:creationId xmlns:a16="http://schemas.microsoft.com/office/drawing/2014/main" id="{643EA605-17A0-9DF5-9FAB-9B794F6316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9322" y="680243"/>
            <a:ext cx="9773356" cy="5497513"/>
          </a:xfrm>
        </p:spPr>
      </p:pic>
    </p:spTree>
    <p:extLst>
      <p:ext uri="{BB962C8B-B14F-4D97-AF65-F5344CB8AC3E}">
        <p14:creationId xmlns:p14="http://schemas.microsoft.com/office/powerpoint/2010/main" val="554923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screen&#10;&#10;Description automatically generated">
            <a:extLst>
              <a:ext uri="{FF2B5EF4-FFF2-40B4-BE49-F238E27FC236}">
                <a16:creationId xmlns:a16="http://schemas.microsoft.com/office/drawing/2014/main" id="{25F0F96F-1AFB-3E02-10AC-FF252BD5F0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83733" y="609600"/>
            <a:ext cx="10024534" cy="5638800"/>
          </a:xfrm>
        </p:spPr>
      </p:pic>
    </p:spTree>
    <p:extLst>
      <p:ext uri="{BB962C8B-B14F-4D97-AF65-F5344CB8AC3E}">
        <p14:creationId xmlns:p14="http://schemas.microsoft.com/office/powerpoint/2010/main" val="852710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0CD56-399E-5230-61F0-565C14B4FA4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Helpful sources </a:t>
            </a:r>
            <a:r>
              <a:rPr lang="en-US" dirty="0"/>
              <a:t> </a:t>
            </a:r>
          </a:p>
        </p:txBody>
      </p:sp>
      <p:sp>
        <p:nvSpPr>
          <p:cNvPr id="3" name="Content Placeholder 2">
            <a:extLst>
              <a:ext uri="{FF2B5EF4-FFF2-40B4-BE49-F238E27FC236}">
                <a16:creationId xmlns:a16="http://schemas.microsoft.com/office/drawing/2014/main" id="{E88C8B4B-3A6D-E1A6-4F0F-CC2A02A1E34F}"/>
              </a:ext>
            </a:extLst>
          </p:cNvPr>
          <p:cNvSpPr>
            <a:spLocks noGrp="1"/>
          </p:cNvSpPr>
          <p:nvPr>
            <p:ph idx="1"/>
          </p:nvPr>
        </p:nvSpPr>
        <p:spPr/>
        <p:txBody>
          <a:bodyPr>
            <a:normAutofit/>
          </a:bodyPr>
          <a:lstStyle/>
          <a:p>
            <a:r>
              <a:rPr lang="en-US" dirty="0">
                <a:hlinkClick r:id="rId2"/>
              </a:rPr>
              <a:t>https://www.geeksforgeeks.org/program-to-check-the-validity-of-a-password/</a:t>
            </a:r>
            <a:endParaRPr lang="en-US" dirty="0"/>
          </a:p>
          <a:p>
            <a:r>
              <a:rPr lang="en-US" dirty="0">
                <a:hlinkClick r:id="rId3"/>
              </a:rPr>
              <a:t>https://www.geeksforgeeks.org/switch-statement-in-cpp/</a:t>
            </a:r>
            <a:endParaRPr lang="en-US" dirty="0"/>
          </a:p>
          <a:p>
            <a:r>
              <a:rPr lang="en-US" dirty="0">
                <a:hlinkClick r:id="rId4"/>
              </a:rPr>
              <a:t>https://linuxhint.com/cin-ignore-cpp/</a:t>
            </a:r>
            <a:endParaRPr lang="en-US" dirty="0"/>
          </a:p>
          <a:p>
            <a:r>
              <a:rPr lang="en-US" dirty="0">
                <a:hlinkClick r:id="rId5"/>
              </a:rPr>
              <a:t>https://cplusplus.com/forum/beginner/21033/</a:t>
            </a:r>
            <a:endParaRPr lang="en-US" dirty="0"/>
          </a:p>
          <a:p>
            <a:r>
              <a:rPr lang="en-US" dirty="0">
                <a:hlinkClick r:id="rId6"/>
              </a:rPr>
              <a:t>https://www.w3schools.com/cpp/cpp_structs.asp</a:t>
            </a:r>
            <a:endParaRPr lang="en-US" dirty="0"/>
          </a:p>
          <a:p>
            <a:pPr marL="0" indent="0">
              <a:buNone/>
            </a:pPr>
            <a:endParaRPr lang="en-US" sz="2000" dirty="0"/>
          </a:p>
        </p:txBody>
      </p:sp>
    </p:spTree>
    <p:extLst>
      <p:ext uri="{BB962C8B-B14F-4D97-AF65-F5344CB8AC3E}">
        <p14:creationId xmlns:p14="http://schemas.microsoft.com/office/powerpoint/2010/main" val="195856727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 2013 - 2022</Template>
  <TotalTime>2924</TotalTime>
  <Words>556</Words>
  <Application>Microsoft Office PowerPoint</Application>
  <PresentationFormat>Widescreen</PresentationFormat>
  <Paragraphs>38</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By Quindarisu Booker </vt:lpstr>
      <vt:lpstr>Class/ Credentials function </vt:lpstr>
      <vt:lpstr>Pay function </vt:lpstr>
      <vt:lpstr>Shift exchange function</vt:lpstr>
      <vt:lpstr>Request Off/ Passwords function</vt:lpstr>
      <vt:lpstr>Messages/ Broadcast function</vt:lpstr>
      <vt:lpstr>Main Function </vt:lpstr>
      <vt:lpstr>PowerPoint Presentation</vt:lpstr>
      <vt:lpstr>Challenges that I faced </vt:lpstr>
      <vt:lpstr> Things I would like to Incorporate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Helpful 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By Quindarisu Booker</dc:title>
  <dc:creator>Quin booker</dc:creator>
  <cp:lastModifiedBy>Quin booker</cp:lastModifiedBy>
  <cp:revision>3</cp:revision>
  <dcterms:created xsi:type="dcterms:W3CDTF">2023-04-17T09:44:14Z</dcterms:created>
  <dcterms:modified xsi:type="dcterms:W3CDTF">2023-04-20T09:32:52Z</dcterms:modified>
</cp:coreProperties>
</file>